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12192000"/>
  <p:notesSz cx="6858000" cy="9144000"/>
  <p:embeddedFontLst>
    <p:embeddedFont>
      <p:font typeface="Rowdies"/>
      <p:regular r:id="rId16"/>
      <p:bold r:id="rId17"/>
    </p:embeddedFont>
    <p:embeddedFont>
      <p:font typeface="Questrial"/>
      <p:regular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E5A2086-1F2D-4721-9B6B-C884CD2EFA97}">
  <a:tblStyle styleId="{CE5A2086-1F2D-4721-9B6B-C884CD2EFA9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owdies-bold.fntdata"/><Relationship Id="rId16" Type="http://schemas.openxmlformats.org/officeDocument/2006/relationships/font" Target="fonts/Rowdies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font" Target="fonts/Questrial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ef95bf4b2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def95bf4b2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ef95bf4b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def95bf4b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6250" y="2248150"/>
            <a:ext cx="7733950" cy="33734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/>
          <p:nvPr/>
        </p:nvSpPr>
        <p:spPr>
          <a:xfrm>
            <a:off x="6972300" y="3906142"/>
            <a:ext cx="381000" cy="166241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199275" y="3110000"/>
            <a:ext cx="87135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00">
                <a:solidFill>
                  <a:srgbClr val="111111"/>
                </a:solidFill>
                <a:latin typeface="Rowdies"/>
                <a:ea typeface="Rowdies"/>
                <a:cs typeface="Rowdies"/>
                <a:sym typeface="Rowdies"/>
              </a:rPr>
              <a:t>MUKIDI </a:t>
            </a:r>
            <a:endParaRPr b="1" sz="5100">
              <a:solidFill>
                <a:srgbClr val="111111"/>
              </a:solidFill>
              <a:latin typeface="Rowdies"/>
              <a:ea typeface="Rowdies"/>
              <a:cs typeface="Rowdies"/>
              <a:sym typeface="Rowdies"/>
            </a:endParaRPr>
          </a:p>
          <a:p>
            <a:pPr indent="0" lvl="0" marL="0" marR="0" rtl="0" algn="l">
              <a:lnSpc>
                <a:spcPct val="10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711326" y="5119092"/>
            <a:ext cx="4769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777777"/>
                </a:solidFill>
                <a:latin typeface="Questrial"/>
                <a:ea typeface="Questrial"/>
                <a:cs typeface="Questrial"/>
                <a:sym typeface="Questrial"/>
              </a:rPr>
              <a:t>SISTEM K</a:t>
            </a:r>
            <a:r>
              <a:rPr lang="en-US" sz="1650">
                <a:solidFill>
                  <a:srgbClr val="777777"/>
                </a:solidFill>
                <a:latin typeface="Questrial"/>
                <a:ea typeface="Questrial"/>
                <a:cs typeface="Questrial"/>
                <a:sym typeface="Questrial"/>
              </a:rPr>
              <a:t>EAMANAN </a:t>
            </a:r>
            <a:r>
              <a:rPr b="0" i="0" lang="en-US" sz="1650" u="none" cap="none" strike="noStrike">
                <a:solidFill>
                  <a:srgbClr val="777777"/>
                </a:solidFill>
                <a:latin typeface="Questrial"/>
                <a:ea typeface="Questrial"/>
                <a:cs typeface="Questrial"/>
                <a:sym typeface="Questrial"/>
              </a:rPr>
              <a:t>MONITORING WAJAH 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725116" y="5459903"/>
            <a:ext cx="4741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AAAAA"/>
                </a:solidFill>
                <a:latin typeface="Questrial"/>
                <a:ea typeface="Questrial"/>
                <a:cs typeface="Questrial"/>
                <a:sym typeface="Questrial"/>
              </a:rPr>
              <a:t>PROYEK </a:t>
            </a:r>
            <a:r>
              <a:rPr lang="en-US" sz="1050">
                <a:solidFill>
                  <a:srgbClr val="AAAAAA"/>
                </a:solidFill>
                <a:latin typeface="Questrial"/>
                <a:ea typeface="Questrial"/>
                <a:cs typeface="Questrial"/>
                <a:sym typeface="Questrial"/>
              </a:rPr>
              <a:t>LATIHAN TAKTIS </a:t>
            </a:r>
            <a:r>
              <a:rPr b="0" i="0" lang="en-US" sz="1050" u="none" cap="none" strike="noStrike">
                <a:solidFill>
                  <a:srgbClr val="AAAAAA"/>
                </a:solidFill>
                <a:latin typeface="Questrial"/>
                <a:ea typeface="Questrial"/>
                <a:cs typeface="Questrial"/>
                <a:sym typeface="Questrial"/>
              </a:rPr>
              <a:t>DASAR KEAMANAN SIBER DKS A-2</a:t>
            </a:r>
            <a:endParaRPr/>
          </a:p>
        </p:txBody>
      </p:sp>
      <p:pic>
        <p:nvPicPr>
          <p:cNvPr id="90" name="Google Shape;90;p13" title="Gemini_Generated_Image_ahu9j1ahu9j1ahu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606775" y="0"/>
            <a:ext cx="1585225" cy="14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1720420" y="2755709"/>
            <a:ext cx="87135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100">
              <a:solidFill>
                <a:srgbClr val="111111"/>
              </a:solidFill>
              <a:latin typeface="Rowdies"/>
              <a:ea typeface="Rowdies"/>
              <a:cs typeface="Rowdies"/>
              <a:sym typeface="Rowdie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11111"/>
                </a:solidFill>
                <a:latin typeface="Rowdies"/>
                <a:ea typeface="Rowdies"/>
                <a:cs typeface="Rowdies"/>
                <a:sym typeface="Rowdies"/>
              </a:rPr>
              <a:t>(Monitoring User Kamera Identification Detector Intruder)</a:t>
            </a:r>
            <a:r>
              <a:rPr b="1" lang="en-US" sz="5100">
                <a:solidFill>
                  <a:srgbClr val="111111"/>
                </a:solidFill>
                <a:latin typeface="Rowdies"/>
                <a:ea typeface="Rowdies"/>
                <a:cs typeface="Rowdies"/>
                <a:sym typeface="Rowdies"/>
              </a:rPr>
              <a:t> </a:t>
            </a:r>
            <a:endParaRPr b="1" sz="5100">
              <a:solidFill>
                <a:srgbClr val="111111"/>
              </a:solidFill>
              <a:latin typeface="Rowdies"/>
              <a:ea typeface="Rowdies"/>
              <a:cs typeface="Rowdies"/>
              <a:sym typeface="Rowdies"/>
            </a:endParaRPr>
          </a:p>
          <a:p>
            <a:pPr indent="0" lvl="0" marL="0" marR="0" rtl="0" algn="l">
              <a:lnSpc>
                <a:spcPct val="10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title="WhatsApp Image 2026-05-05 at 10.33.48 AM.jpeg"/>
          <p:cNvPicPr preferRelativeResize="0"/>
          <p:nvPr/>
        </p:nvPicPr>
        <p:blipFill rotWithShape="1">
          <a:blip r:embed="rId3">
            <a:alphaModFix/>
          </a:blip>
          <a:srcRect b="6385" l="0" r="0" t="6385"/>
          <a:stretch/>
        </p:blipFill>
        <p:spPr>
          <a:xfrm>
            <a:off x="6272475" y="2149549"/>
            <a:ext cx="5454052" cy="35680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422900" y="1959050"/>
            <a:ext cx="5377800" cy="40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latin typeface="Questrial"/>
                <a:ea typeface="Questrial"/>
                <a:cs typeface="Questrial"/>
                <a:sym typeface="Questrial"/>
              </a:rPr>
              <a:t>MUKIDI </a:t>
            </a:r>
            <a:r>
              <a:rPr lang="en-US" sz="1300">
                <a:solidFill>
                  <a:srgbClr val="333333"/>
                </a:solidFill>
                <a:latin typeface="Questrial"/>
                <a:ea typeface="Questrial"/>
                <a:cs typeface="Questrial"/>
                <a:sym typeface="Questrial"/>
              </a:rPr>
              <a:t>adalah sebuah sistem keamanan berbasis pengenalan wajah. Bayangkan seperti satpam pintar yang bisa mengenali wajah setiap orang yang melintas di depan kamera, lalu mencatatnya secara otomatis.</a:t>
            </a:r>
            <a:endParaRPr sz="1300">
              <a:solidFill>
                <a:srgbClr val="333333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33333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Questrial"/>
                <a:ea typeface="Questrial"/>
                <a:cs typeface="Questrial"/>
                <a:sym typeface="Questrial"/>
              </a:rPr>
              <a:t>🎯 Fungsi Utama:</a:t>
            </a:r>
            <a:endParaRPr sz="1300">
              <a:solidFill>
                <a:srgbClr val="333333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Questrial"/>
                <a:ea typeface="Questrial"/>
                <a:cs typeface="Questrial"/>
                <a:sym typeface="Questrial"/>
              </a:rPr>
              <a:t>Mengenali orang yang sudah terdaftar → ditampilkan nama mereka</a:t>
            </a:r>
            <a:endParaRPr sz="1300">
              <a:solidFill>
                <a:srgbClr val="333333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Questrial"/>
                <a:ea typeface="Questrial"/>
                <a:cs typeface="Questrial"/>
                <a:sym typeface="Questrial"/>
              </a:rPr>
              <a:t>Mendeteksi orang asing → dicatat sebagai "Unknown" atau diberi kode seperti U1, U2, dst.</a:t>
            </a:r>
            <a:endParaRPr sz="1300">
              <a:solidFill>
                <a:srgbClr val="333333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33333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Questrial"/>
                <a:ea typeface="Questrial"/>
                <a:cs typeface="Questrial"/>
                <a:sym typeface="Questrial"/>
              </a:rPr>
              <a:t>Mencatat aktivitas masuk dan keluar → tersimpan dalam log harian</a:t>
            </a:r>
            <a:endParaRPr sz="1300">
              <a:solidFill>
                <a:srgbClr val="333333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Questrial"/>
                <a:ea typeface="Questrial"/>
                <a:cs typeface="Questrial"/>
                <a:sym typeface="Questrial"/>
              </a:rPr>
              <a:t>Bisa diakses dari browser → tampilan web yang modern dan mudah digunakan</a:t>
            </a:r>
            <a:endParaRPr sz="1300">
              <a:solidFill>
                <a:srgbClr val="333333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952500" y="762000"/>
            <a:ext cx="1100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111"/>
                </a:solidFill>
                <a:latin typeface="Rowdies"/>
                <a:ea typeface="Rowdies"/>
                <a:cs typeface="Rowdies"/>
                <a:sym typeface="Rowdies"/>
              </a:rPr>
              <a:t>APA ITU MUKIDI? 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762000" y="762000"/>
            <a:ext cx="76200" cy="4476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4" title="Gemini_Generated_Image_ahu9j1ahu9j1ahu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06775" y="0"/>
            <a:ext cx="1585225" cy="14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 txBox="1"/>
          <p:nvPr/>
        </p:nvSpPr>
        <p:spPr>
          <a:xfrm>
            <a:off x="952500" y="762000"/>
            <a:ext cx="1100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111"/>
                </a:solidFill>
                <a:latin typeface="Rowdies"/>
                <a:ea typeface="Rowdies"/>
                <a:cs typeface="Rowdies"/>
                <a:sym typeface="Rowdies"/>
              </a:rPr>
              <a:t>FRONT END</a:t>
            </a:r>
            <a:endParaRPr/>
          </a:p>
        </p:txBody>
      </p:sp>
      <p:sp>
        <p:nvSpPr>
          <p:cNvPr id="106" name="Google Shape;106;p15"/>
          <p:cNvSpPr/>
          <p:nvPr/>
        </p:nvSpPr>
        <p:spPr>
          <a:xfrm>
            <a:off x="762000" y="762000"/>
            <a:ext cx="76200" cy="447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15" title="Gemini_Generated_Image_ahu9j1ahu9j1ahu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06775" y="0"/>
            <a:ext cx="1585225" cy="1400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8" name="Google Shape;108;p15"/>
          <p:cNvGraphicFramePr/>
          <p:nvPr/>
        </p:nvGraphicFramePr>
        <p:xfrm>
          <a:off x="466725" y="3482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{CE5A2086-1F2D-4721-9B6B-C884CD2EFA97}</a:tableStyleId>
              </a:tblPr>
              <a:tblGrid>
                <a:gridCol w="1381125"/>
                <a:gridCol w="3038475"/>
              </a:tblGrid>
              <a:tr h="323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Elemen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T="57150" marB="57150" marR="123825" marL="123825">
                    <a:lnL cap="flat" cmpd="sng" w="101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Fungsi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T="57150" marB="57150" marR="123825" marL="123825">
                    <a:lnL cap="flat" cmpd="sng" w="101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Panel Kiri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T="57150" marB="57150" marR="123825" marL="123825">
                    <a:lnL cap="flat" cmpd="sng" w="101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Menu kontrol dan pengaturan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T="57150" marB="57150" marR="123825" marL="123825">
                    <a:lnL cap="flat" cmpd="sng" w="101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Tengah (Kamera)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T="57150" marB="57150" marR="123825" marL="123825">
                    <a:lnL cap="flat" cmpd="sng" w="101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Tampilan live video dengan deteksi wajah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T="57150" marB="57150" marR="123825" marL="123825">
                    <a:lnL cap="flat" cmpd="sng" w="101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Panel Kanan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T="57150" marB="57150" marR="123825" marL="123825">
                    <a:lnL cap="flat" cmpd="sng" w="101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Log aktivitas dan informasi real-time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T="57150" marB="57150" marR="123825" marL="123825">
                    <a:lnL cap="flat" cmpd="sng" w="101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Header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T="57150" marB="57150" marR="123825" marL="123825">
                    <a:lnL cap="flat" cmpd="sng" w="101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Status sistem dan jam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T="57150" marB="57150" marR="123825" marL="123825">
                    <a:lnL cap="flat" cmpd="sng" w="101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9" name="Google Shape;109;p15"/>
          <p:cNvSpPr txBox="1"/>
          <p:nvPr/>
        </p:nvSpPr>
        <p:spPr>
          <a:xfrm>
            <a:off x="417225" y="1829225"/>
            <a:ext cx="4518600" cy="14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highlight>
                  <a:schemeClr val="lt1"/>
                </a:highlight>
              </a:rPr>
              <a:t>File </a:t>
            </a:r>
            <a:r>
              <a:rPr lang="en-US" sz="11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index.html</a:t>
            </a:r>
            <a:r>
              <a:rPr lang="en-US" sz="1300">
                <a:solidFill>
                  <a:schemeClr val="dk1"/>
                </a:solidFill>
                <a:highlight>
                  <a:schemeClr val="lt1"/>
                </a:highlight>
              </a:rPr>
              <a:t> adalah tampilan yang kita lihat di browser. Dibuat dengan desain futuristik berwarna biru-hitam.</a:t>
            </a:r>
            <a:endParaRPr sz="13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300">
                <a:solidFill>
                  <a:schemeClr val="dk1"/>
                </a:solidFill>
                <a:highlight>
                  <a:schemeClr val="lt1"/>
                </a:highlight>
              </a:rPr>
              <a:t>Elemen tampilan utama:</a:t>
            </a:r>
            <a:endParaRPr sz="13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110" name="Google Shape;11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43525" y="1981550"/>
            <a:ext cx="6705600" cy="3172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08674" y="3320500"/>
            <a:ext cx="1159200" cy="86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6"/>
          <p:cNvPicPr preferRelativeResize="0"/>
          <p:nvPr/>
        </p:nvPicPr>
        <p:blipFill rotWithShape="1">
          <a:blip r:embed="rId3">
            <a:alphaModFix/>
          </a:blip>
          <a:srcRect b="5206" l="0" r="0" t="10413"/>
          <a:stretch/>
        </p:blipFill>
        <p:spPr>
          <a:xfrm>
            <a:off x="0" y="0"/>
            <a:ext cx="12191998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/>
          <p:nvPr/>
        </p:nvSpPr>
        <p:spPr>
          <a:xfrm>
            <a:off x="762000" y="762000"/>
            <a:ext cx="76200" cy="4476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" name="Google Shape;12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762250"/>
            <a:ext cx="5191125" cy="2162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762250"/>
            <a:ext cx="5191125" cy="2162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7"/>
          <p:cNvSpPr txBox="1"/>
          <p:nvPr/>
        </p:nvSpPr>
        <p:spPr>
          <a:xfrm>
            <a:off x="1104900" y="3105150"/>
            <a:ext cx="18138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11111"/>
                </a:solidFill>
                <a:latin typeface="Rowdies"/>
                <a:ea typeface="Rowdies"/>
                <a:cs typeface="Rowdies"/>
                <a:sym typeface="Rowdies"/>
              </a:rPr>
              <a:t>VISI PRODUK</a:t>
            </a:r>
            <a:endParaRPr/>
          </a:p>
        </p:txBody>
      </p:sp>
      <p:sp>
        <p:nvSpPr>
          <p:cNvPr id="126" name="Google Shape;126;p17"/>
          <p:cNvSpPr/>
          <p:nvPr/>
        </p:nvSpPr>
        <p:spPr>
          <a:xfrm>
            <a:off x="1104900" y="3362325"/>
            <a:ext cx="1727400" cy="19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7"/>
          <p:cNvSpPr txBox="1"/>
          <p:nvPr/>
        </p:nvSpPr>
        <p:spPr>
          <a:xfrm>
            <a:off x="1104900" y="3524250"/>
            <a:ext cx="45054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Questrial"/>
                <a:ea typeface="Questrial"/>
                <a:cs typeface="Questrial"/>
                <a:sym typeface="Questrial"/>
              </a:rPr>
              <a:t>Mentransformasi kamera pasif menjadi unit cerdas yang mampu mengidentifikasi </a:t>
            </a:r>
            <a:r>
              <a:rPr lang="en-US" sz="1500">
                <a:solidFill>
                  <a:srgbClr val="333333"/>
                </a:solidFill>
                <a:latin typeface="Questrial"/>
                <a:ea typeface="Questrial"/>
                <a:cs typeface="Questrial"/>
                <a:sym typeface="Questrial"/>
              </a:rPr>
              <a:t>entitas </a:t>
            </a:r>
            <a:r>
              <a:rPr b="0" i="0" lang="en-US" sz="1500" u="none" cap="none" strike="noStrike">
                <a:solidFill>
                  <a:srgbClr val="333333"/>
                </a:solidFill>
                <a:latin typeface="Questrial"/>
                <a:ea typeface="Questrial"/>
                <a:cs typeface="Questrial"/>
                <a:sym typeface="Questrial"/>
              </a:rPr>
              <a:t>dan mencegah akses tidak sah secara otomatis.</a:t>
            </a:r>
            <a:endParaRPr/>
          </a:p>
        </p:txBody>
      </p:sp>
      <p:sp>
        <p:nvSpPr>
          <p:cNvPr id="128" name="Google Shape;128;p17"/>
          <p:cNvSpPr txBox="1"/>
          <p:nvPr/>
        </p:nvSpPr>
        <p:spPr>
          <a:xfrm>
            <a:off x="6581775" y="3105150"/>
            <a:ext cx="29409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11111"/>
                </a:solidFill>
                <a:latin typeface="Rowdies"/>
                <a:ea typeface="Rowdies"/>
                <a:cs typeface="Rowdies"/>
                <a:sym typeface="Rowdies"/>
              </a:rPr>
              <a:t>ANALISIS REAL-TIME</a:t>
            </a:r>
            <a:endParaRPr/>
          </a:p>
        </p:txBody>
      </p:sp>
      <p:sp>
        <p:nvSpPr>
          <p:cNvPr id="129" name="Google Shape;129;p17"/>
          <p:cNvSpPr/>
          <p:nvPr/>
        </p:nvSpPr>
        <p:spPr>
          <a:xfrm>
            <a:off x="6581775" y="3362325"/>
            <a:ext cx="2800800" cy="19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6581775" y="3524250"/>
            <a:ext cx="45054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Questrial"/>
                <a:ea typeface="Questrial"/>
                <a:cs typeface="Questrial"/>
                <a:sym typeface="Questrial"/>
              </a:rPr>
              <a:t>Memungkinkan pengenalan wajah dalam hitungan </a:t>
            </a:r>
            <a:r>
              <a:rPr lang="en-US" sz="1500">
                <a:solidFill>
                  <a:srgbClr val="333333"/>
                </a:solidFill>
                <a:latin typeface="Questrial"/>
                <a:ea typeface="Questrial"/>
                <a:cs typeface="Questrial"/>
                <a:sym typeface="Questrial"/>
              </a:rPr>
              <a:t>singkat dan penyimpanan log aktifitas tiap tiap entitas.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952500" y="762000"/>
            <a:ext cx="110013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1111"/>
                </a:solidFill>
                <a:latin typeface="Rowdies"/>
                <a:ea typeface="Rowdies"/>
                <a:cs typeface="Rowdies"/>
                <a:sym typeface="Rowdies"/>
              </a:rPr>
              <a:t>DESKRIPSI SISTEM</a:t>
            </a:r>
            <a:endParaRPr/>
          </a:p>
        </p:txBody>
      </p:sp>
      <p:sp>
        <p:nvSpPr>
          <p:cNvPr id="132" name="Google Shape;132;p17"/>
          <p:cNvSpPr/>
          <p:nvPr/>
        </p:nvSpPr>
        <p:spPr>
          <a:xfrm>
            <a:off x="762000" y="762000"/>
            <a:ext cx="76200" cy="447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17" title="Gemini_Generated_Image_ahu9j1ahu9j1ahu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606775" y="0"/>
            <a:ext cx="1585225" cy="14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 txBox="1"/>
          <p:nvPr/>
        </p:nvSpPr>
        <p:spPr>
          <a:xfrm>
            <a:off x="762000" y="1441251"/>
            <a:ext cx="396565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11111"/>
                </a:solidFill>
                <a:latin typeface="Rowdies"/>
                <a:ea typeface="Rowdies"/>
                <a:cs typeface="Rowdies"/>
                <a:sym typeface="Rowdies"/>
              </a:rPr>
              <a:t>SESI PRESENTASI UI</a:t>
            </a:r>
            <a:endParaRPr/>
          </a:p>
        </p:txBody>
      </p:sp>
      <p:sp>
        <p:nvSpPr>
          <p:cNvPr id="139" name="Google Shape;139;p18"/>
          <p:cNvSpPr/>
          <p:nvPr/>
        </p:nvSpPr>
        <p:spPr>
          <a:xfrm>
            <a:off x="762000" y="1793676"/>
            <a:ext cx="3776811" cy="285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>
            <a:off x="762000" y="2060376"/>
            <a:ext cx="3776811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777777"/>
                </a:solidFill>
                <a:latin typeface="Questrial"/>
                <a:ea typeface="Questrial"/>
                <a:cs typeface="Questrial"/>
                <a:sym typeface="Questrial"/>
              </a:rPr>
              <a:t>ANTARMUKA KONTROL SISTEM</a:t>
            </a:r>
            <a:endParaRPr/>
          </a:p>
        </p:txBody>
      </p:sp>
      <p:pic>
        <p:nvPicPr>
          <p:cNvPr id="141" name="Google Shape;141;p18" title="Gemini_Generated_Image_ahu9j1ahu9j1ahu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06775" y="0"/>
            <a:ext cx="1585225" cy="14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 txBox="1"/>
          <p:nvPr/>
        </p:nvSpPr>
        <p:spPr>
          <a:xfrm>
            <a:off x="762000" y="3124200"/>
            <a:ext cx="792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111"/>
                </a:solidFill>
                <a:latin typeface="Rowdies"/>
                <a:ea typeface="Rowdies"/>
                <a:cs typeface="Rowdies"/>
                <a:sym typeface="Rowdies"/>
              </a:rPr>
              <a:t>Letda Lek Ahmad Fauzi, S.T.</a:t>
            </a:r>
            <a:endParaRPr sz="2900"/>
          </a:p>
        </p:txBody>
      </p:sp>
      <p:sp>
        <p:nvSpPr>
          <p:cNvPr id="143" name="Google Shape;143;p18"/>
          <p:cNvSpPr txBox="1"/>
          <p:nvPr/>
        </p:nvSpPr>
        <p:spPr>
          <a:xfrm>
            <a:off x="762000" y="3785475"/>
            <a:ext cx="54006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rgbClr val="111111"/>
                </a:solidFill>
                <a:latin typeface="Rowdies"/>
                <a:ea typeface="Rowdies"/>
                <a:cs typeface="Rowdies"/>
                <a:sym typeface="Rowdies"/>
              </a:rPr>
              <a:t>Serda Ryan Saifulloh</a:t>
            </a:r>
            <a:endParaRPr sz="3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>
            <a:off x="762000" y="3124200"/>
            <a:ext cx="54006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111"/>
                </a:solidFill>
                <a:latin typeface="Rowdies"/>
                <a:ea typeface="Rowdies"/>
                <a:cs typeface="Rowdies"/>
                <a:sym typeface="Rowdies"/>
              </a:rPr>
              <a:t>TANTANGAN SAAT INI</a:t>
            </a:r>
            <a:endParaRPr/>
          </a:p>
        </p:txBody>
      </p:sp>
      <p:sp>
        <p:nvSpPr>
          <p:cNvPr id="150" name="Google Shape;150;p19"/>
          <p:cNvSpPr txBox="1"/>
          <p:nvPr/>
        </p:nvSpPr>
        <p:spPr>
          <a:xfrm>
            <a:off x="6286500" y="3124200"/>
            <a:ext cx="54006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111"/>
                </a:solidFill>
                <a:latin typeface="Rowdies"/>
                <a:ea typeface="Rowdies"/>
                <a:cs typeface="Rowdies"/>
                <a:sym typeface="Rowdies"/>
              </a:rPr>
              <a:t>RENCANA PENGEMBANGAN</a:t>
            </a:r>
            <a:endParaRPr/>
          </a:p>
        </p:txBody>
      </p:sp>
      <p:sp>
        <p:nvSpPr>
          <p:cNvPr id="151" name="Google Shape;151;p19"/>
          <p:cNvSpPr txBox="1"/>
          <p:nvPr/>
        </p:nvSpPr>
        <p:spPr>
          <a:xfrm>
            <a:off x="885825" y="34956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Questrial"/>
                <a:ea typeface="Questrial"/>
                <a:cs typeface="Questrial"/>
                <a:sym typeface="Questrial"/>
              </a:rPr>
              <a:t>•</a:t>
            </a:r>
            <a:endParaRPr/>
          </a:p>
        </p:txBody>
      </p:sp>
      <p:sp>
        <p:nvSpPr>
          <p:cNvPr id="152" name="Google Shape;152;p19"/>
          <p:cNvSpPr txBox="1"/>
          <p:nvPr/>
        </p:nvSpPr>
        <p:spPr>
          <a:xfrm>
            <a:off x="952500" y="3495675"/>
            <a:ext cx="4953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3333"/>
                </a:solidFill>
                <a:latin typeface="Questrial"/>
                <a:ea typeface="Questrial"/>
                <a:cs typeface="Questrial"/>
                <a:sym typeface="Questrial"/>
              </a:rPr>
              <a:t>Kekuatan Hardware</a:t>
            </a:r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885825" y="38004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Questrial"/>
                <a:ea typeface="Questrial"/>
                <a:cs typeface="Questrial"/>
                <a:sym typeface="Questrial"/>
              </a:rPr>
              <a:t>•</a:t>
            </a:r>
            <a:endParaRPr/>
          </a:p>
        </p:txBody>
      </p:sp>
      <p:sp>
        <p:nvSpPr>
          <p:cNvPr id="154" name="Google Shape;154;p19"/>
          <p:cNvSpPr txBox="1"/>
          <p:nvPr/>
        </p:nvSpPr>
        <p:spPr>
          <a:xfrm>
            <a:off x="952500" y="3800475"/>
            <a:ext cx="4953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3333"/>
                </a:solidFill>
                <a:latin typeface="Questrial"/>
                <a:ea typeface="Questrial"/>
                <a:cs typeface="Questrial"/>
                <a:sym typeface="Questrial"/>
              </a:rPr>
              <a:t>Sensitifitas terhadap jarak dan resolusi rendah.</a:t>
            </a:r>
            <a:endParaRPr sz="1500">
              <a:solidFill>
                <a:srgbClr val="333333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>
            <a:off x="6410325" y="34956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Questrial"/>
                <a:ea typeface="Questrial"/>
                <a:cs typeface="Questrial"/>
                <a:sym typeface="Questrial"/>
              </a:rPr>
              <a:t>•</a:t>
            </a:r>
            <a:endParaRPr/>
          </a:p>
        </p:txBody>
      </p:sp>
      <p:sp>
        <p:nvSpPr>
          <p:cNvPr id="156" name="Google Shape;156;p19"/>
          <p:cNvSpPr txBox="1"/>
          <p:nvPr/>
        </p:nvSpPr>
        <p:spPr>
          <a:xfrm>
            <a:off x="6477000" y="3495675"/>
            <a:ext cx="4953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Questrial"/>
                <a:ea typeface="Questrial"/>
                <a:cs typeface="Questrial"/>
                <a:sym typeface="Questrial"/>
              </a:rPr>
              <a:t>Integrasi </a:t>
            </a:r>
            <a:r>
              <a:rPr i="1" lang="en-US" sz="1500">
                <a:solidFill>
                  <a:srgbClr val="333333"/>
                </a:solidFill>
                <a:latin typeface="Questrial"/>
                <a:ea typeface="Questrial"/>
                <a:cs typeface="Questrial"/>
                <a:sym typeface="Questrial"/>
              </a:rPr>
              <a:t>system OSINT </a:t>
            </a:r>
            <a:r>
              <a:rPr lang="en-US" sz="1500">
                <a:solidFill>
                  <a:srgbClr val="333333"/>
                </a:solidFill>
                <a:latin typeface="Questrial"/>
                <a:ea typeface="Questrial"/>
                <a:cs typeface="Questrial"/>
                <a:sym typeface="Questrial"/>
              </a:rPr>
              <a:t>secara luas</a:t>
            </a:r>
            <a:endParaRPr/>
          </a:p>
        </p:txBody>
      </p:sp>
      <p:sp>
        <p:nvSpPr>
          <p:cNvPr id="157" name="Google Shape;157;p19"/>
          <p:cNvSpPr txBox="1"/>
          <p:nvPr/>
        </p:nvSpPr>
        <p:spPr>
          <a:xfrm>
            <a:off x="6410325" y="38004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Questrial"/>
                <a:ea typeface="Questrial"/>
                <a:cs typeface="Questrial"/>
                <a:sym typeface="Questrial"/>
              </a:rPr>
              <a:t>•</a:t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6477000" y="3800475"/>
            <a:ext cx="5287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Questrial"/>
                <a:ea typeface="Questrial"/>
                <a:cs typeface="Questrial"/>
                <a:sym typeface="Questrial"/>
              </a:rPr>
              <a:t>Peningkatan algoritma deteksi </a:t>
            </a:r>
            <a:r>
              <a:rPr lang="en-US" sz="1500">
                <a:solidFill>
                  <a:srgbClr val="333333"/>
                </a:solidFill>
                <a:latin typeface="Questrial"/>
                <a:ea typeface="Questrial"/>
                <a:cs typeface="Questrial"/>
                <a:sym typeface="Questrial"/>
              </a:rPr>
              <a:t>dan data analysis tiap tiap log. 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952500" y="762000"/>
            <a:ext cx="1100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111"/>
                </a:solidFill>
                <a:latin typeface="Rowdies"/>
                <a:ea typeface="Rowdies"/>
                <a:cs typeface="Rowdies"/>
                <a:sym typeface="Rowdies"/>
              </a:rPr>
              <a:t>TANTANGAN </a:t>
            </a:r>
            <a:r>
              <a:rPr b="1" i="0" lang="en-US" sz="3000" u="none" cap="none" strike="noStrike">
                <a:solidFill>
                  <a:srgbClr val="111111"/>
                </a:solidFill>
                <a:latin typeface="Rowdies"/>
                <a:ea typeface="Rowdies"/>
                <a:cs typeface="Rowdies"/>
                <a:sym typeface="Rowdies"/>
              </a:rPr>
              <a:t>&amp; MASA DEPAN</a:t>
            </a:r>
            <a:endParaRPr/>
          </a:p>
        </p:txBody>
      </p:sp>
      <p:sp>
        <p:nvSpPr>
          <p:cNvPr id="160" name="Google Shape;160;p19"/>
          <p:cNvSpPr/>
          <p:nvPr/>
        </p:nvSpPr>
        <p:spPr>
          <a:xfrm>
            <a:off x="762000" y="762000"/>
            <a:ext cx="76200" cy="4476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" name="Google Shape;161;p19" title="Gemini_Generated_Image_ahu9j1ahu9j1ahu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06775" y="0"/>
            <a:ext cx="1585225" cy="14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>
            <a:off x="6485916" y="4105926"/>
            <a:ext cx="5287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3333"/>
                </a:solidFill>
                <a:latin typeface="Questrial"/>
                <a:ea typeface="Questrial"/>
                <a:cs typeface="Questrial"/>
                <a:sym typeface="Questrial"/>
              </a:rPr>
              <a:t>Penambahan Liveness Detection dan Night Vision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6410370" y="4098437"/>
            <a:ext cx="66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Questrial"/>
                <a:ea typeface="Questrial"/>
                <a:cs typeface="Questrial"/>
                <a:sym typeface="Questrial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0"/>
          <p:cNvSpPr txBox="1"/>
          <p:nvPr/>
        </p:nvSpPr>
        <p:spPr>
          <a:xfrm>
            <a:off x="762000" y="3124200"/>
            <a:ext cx="5400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111"/>
                </a:solidFill>
                <a:latin typeface="Rowdies"/>
                <a:ea typeface="Rowdies"/>
                <a:cs typeface="Rowdies"/>
                <a:sym typeface="Rowdies"/>
              </a:rPr>
              <a:t>TANTANGAN SAAT INI</a:t>
            </a:r>
            <a:endParaRPr/>
          </a:p>
        </p:txBody>
      </p:sp>
      <p:sp>
        <p:nvSpPr>
          <p:cNvPr id="170" name="Google Shape;170;p20"/>
          <p:cNvSpPr txBox="1"/>
          <p:nvPr/>
        </p:nvSpPr>
        <p:spPr>
          <a:xfrm>
            <a:off x="6286500" y="3124200"/>
            <a:ext cx="5400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111"/>
                </a:solidFill>
                <a:latin typeface="Rowdies"/>
                <a:ea typeface="Rowdies"/>
                <a:cs typeface="Rowdies"/>
                <a:sym typeface="Rowdies"/>
              </a:rPr>
              <a:t>RENCANA PENGEMBANGAN</a:t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885825" y="3495675"/>
            <a:ext cx="66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Questrial"/>
                <a:ea typeface="Questrial"/>
                <a:cs typeface="Questrial"/>
                <a:sym typeface="Questrial"/>
              </a:rPr>
              <a:t>•</a:t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952500" y="3495675"/>
            <a:ext cx="4953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3333"/>
                </a:solidFill>
                <a:latin typeface="Questrial"/>
                <a:ea typeface="Questrial"/>
                <a:cs typeface="Questrial"/>
                <a:sym typeface="Questrial"/>
              </a:rPr>
              <a:t>Kekuatan Hardware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885825" y="3800475"/>
            <a:ext cx="66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Questrial"/>
                <a:ea typeface="Questrial"/>
                <a:cs typeface="Questrial"/>
                <a:sym typeface="Questrial"/>
              </a:rPr>
              <a:t>•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952500" y="3800475"/>
            <a:ext cx="4953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3333"/>
                </a:solidFill>
                <a:latin typeface="Questrial"/>
                <a:ea typeface="Questrial"/>
                <a:cs typeface="Questrial"/>
                <a:sym typeface="Questrial"/>
              </a:rPr>
              <a:t>Sensitifitas terhadap jarak dan resolusi rendah.</a:t>
            </a:r>
            <a:endParaRPr sz="1500">
              <a:solidFill>
                <a:srgbClr val="333333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6410325" y="3495675"/>
            <a:ext cx="66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Questrial"/>
                <a:ea typeface="Questrial"/>
                <a:cs typeface="Questrial"/>
                <a:sym typeface="Questrial"/>
              </a:rPr>
              <a:t>•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6477000" y="3495675"/>
            <a:ext cx="4953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Questrial"/>
                <a:ea typeface="Questrial"/>
                <a:cs typeface="Questrial"/>
                <a:sym typeface="Questrial"/>
              </a:rPr>
              <a:t>Integrasi </a:t>
            </a:r>
            <a:r>
              <a:rPr i="1" lang="en-US" sz="1500">
                <a:solidFill>
                  <a:srgbClr val="333333"/>
                </a:solidFill>
                <a:latin typeface="Questrial"/>
                <a:ea typeface="Questrial"/>
                <a:cs typeface="Questrial"/>
                <a:sym typeface="Questrial"/>
              </a:rPr>
              <a:t>system OSINT </a:t>
            </a:r>
            <a:r>
              <a:rPr lang="en-US" sz="1500">
                <a:solidFill>
                  <a:srgbClr val="333333"/>
                </a:solidFill>
                <a:latin typeface="Questrial"/>
                <a:ea typeface="Questrial"/>
                <a:cs typeface="Questrial"/>
                <a:sym typeface="Questrial"/>
              </a:rPr>
              <a:t>secara luas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6410325" y="3800475"/>
            <a:ext cx="66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Questrial"/>
                <a:ea typeface="Questrial"/>
                <a:cs typeface="Questrial"/>
                <a:sym typeface="Questrial"/>
              </a:rPr>
              <a:t>•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6477000" y="3800475"/>
            <a:ext cx="5287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Questrial"/>
                <a:ea typeface="Questrial"/>
                <a:cs typeface="Questrial"/>
                <a:sym typeface="Questrial"/>
              </a:rPr>
              <a:t>Peningkatan algoritma deteksi </a:t>
            </a:r>
            <a:r>
              <a:rPr lang="en-US" sz="1500">
                <a:solidFill>
                  <a:srgbClr val="333333"/>
                </a:solidFill>
                <a:latin typeface="Questrial"/>
                <a:ea typeface="Questrial"/>
                <a:cs typeface="Questrial"/>
                <a:sym typeface="Questrial"/>
              </a:rPr>
              <a:t>dan data analysis tiap tiap log. 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952500" y="762000"/>
            <a:ext cx="1100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111"/>
                </a:solidFill>
                <a:latin typeface="Rowdies"/>
                <a:ea typeface="Rowdies"/>
                <a:cs typeface="Rowdies"/>
                <a:sym typeface="Rowdies"/>
              </a:rPr>
              <a:t>TANTANGAN </a:t>
            </a:r>
            <a:r>
              <a:rPr b="1" i="0" lang="en-US" sz="3000" u="none" cap="none" strike="noStrike">
                <a:solidFill>
                  <a:srgbClr val="111111"/>
                </a:solidFill>
                <a:latin typeface="Rowdies"/>
                <a:ea typeface="Rowdies"/>
                <a:cs typeface="Rowdies"/>
                <a:sym typeface="Rowdies"/>
              </a:rPr>
              <a:t>&amp; MASA DEPAN</a:t>
            </a:r>
            <a:endParaRPr/>
          </a:p>
        </p:txBody>
      </p:sp>
      <p:sp>
        <p:nvSpPr>
          <p:cNvPr id="180" name="Google Shape;180;p20"/>
          <p:cNvSpPr/>
          <p:nvPr/>
        </p:nvSpPr>
        <p:spPr>
          <a:xfrm>
            <a:off x="762000" y="762000"/>
            <a:ext cx="76200" cy="447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p20" title="Gemini_Generated_Image_ahu9j1ahu9j1ahu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06775" y="0"/>
            <a:ext cx="1585225" cy="14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6485916" y="4105926"/>
            <a:ext cx="5287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3333"/>
                </a:solidFill>
                <a:latin typeface="Questrial"/>
                <a:ea typeface="Questrial"/>
                <a:cs typeface="Questrial"/>
                <a:sym typeface="Questrial"/>
              </a:rPr>
              <a:t>Penambahan Liveness Detection dan Night Vision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6410370" y="4098437"/>
            <a:ext cx="66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Questrial"/>
                <a:ea typeface="Questrial"/>
                <a:cs typeface="Questrial"/>
                <a:sym typeface="Questrial"/>
              </a:rPr>
              <a:t>•</a:t>
            </a:r>
            <a:endParaRPr/>
          </a:p>
        </p:txBody>
      </p:sp>
      <p:pic>
        <p:nvPicPr>
          <p:cNvPr id="184" name="Google Shape;184;p20"/>
          <p:cNvPicPr preferRelativeResize="0"/>
          <p:nvPr/>
        </p:nvPicPr>
        <p:blipFill rotWithShape="1">
          <a:blip r:embed="rId5">
            <a:alphaModFix/>
          </a:blip>
          <a:srcRect b="7841" l="0" r="0" t="7841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1" title="Gemini_Generated_Image_ahu9j1ahu9j1ahu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1510" y="1608750"/>
            <a:ext cx="5839274" cy="5156951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1"/>
          <p:cNvSpPr/>
          <p:nvPr/>
        </p:nvSpPr>
        <p:spPr>
          <a:xfrm>
            <a:off x="5233500" y="121562"/>
            <a:ext cx="571500" cy="571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3415650" y="823662"/>
            <a:ext cx="5360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00" u="none" cap="none" strike="noStrike">
                <a:solidFill>
                  <a:srgbClr val="111111"/>
                </a:solidFill>
                <a:latin typeface="Rowdies"/>
                <a:ea typeface="Rowdies"/>
                <a:cs typeface="Rowdies"/>
                <a:sym typeface="Rowdies"/>
              </a:rPr>
              <a:t>TERIMA KASIH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4654033" y="1573950"/>
            <a:ext cx="3221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777777"/>
                </a:solidFill>
                <a:latin typeface="Questrial"/>
                <a:ea typeface="Questrial"/>
                <a:cs typeface="Questrial"/>
                <a:sym typeface="Questrial"/>
              </a:rPr>
              <a:t>SESI TANYA JAWAB (Q&amp;A)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